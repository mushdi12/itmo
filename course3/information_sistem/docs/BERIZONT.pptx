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Anton"/>
      <p:regular r:id="rId14"/>
    </p:embeddedFont>
    <p:embeddedFont>
      <p:font typeface="Fira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j3fJybQPwK8Lti30Q5Kh45axm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iraSans-regular.fntdata"/><Relationship Id="rId14" Type="http://schemas.openxmlformats.org/officeDocument/2006/relationships/font" Target="fonts/Anton-regular.fntdata"/><Relationship Id="rId17" Type="http://schemas.openxmlformats.org/officeDocument/2006/relationships/font" Target="fonts/FiraSans-italic.fntdata"/><Relationship Id="rId16" Type="http://schemas.openxmlformats.org/officeDocument/2006/relationships/font" Target="fonts/FiraSans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Fira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1bf4e1077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1bf4e1077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91bf4e1077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1bf4e1077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91bf4e1077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91bf4e1077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1bf4e1077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91bf4e1077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1bf4e1077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1bf4e1077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91bf4e1077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91bf4e1077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6280200" y="3406025"/>
            <a:ext cx="70857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BERIZONT: </a:t>
            </a:r>
            <a:endParaRPr b="0" i="0" sz="4450" u="none" cap="none" strike="noStrike">
              <a:solidFill>
                <a:srgbClr val="FA95A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сервис аренды</a:t>
            </a:r>
            <a:r>
              <a:rPr lang="en-US" sz="445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зонтиков</a:t>
            </a:r>
            <a:endParaRPr b="0" i="0" sz="4450" u="none" cap="none" strike="noStrike"/>
          </a:p>
        </p:txBody>
      </p:sp>
      <p:pic>
        <p:nvPicPr>
          <p:cNvPr id="58" name="Google Shape;5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1375" y="7734300"/>
            <a:ext cx="17490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12472225" y="6444500"/>
            <a:ext cx="30543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GROUP: P3316</a:t>
            </a:r>
            <a:endParaRPr sz="1900">
              <a:solidFill>
                <a:srgbClr val="FA95A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Bragin Roman</a:t>
            </a:r>
            <a:endParaRPr sz="1900">
              <a:solidFill>
                <a:srgbClr val="FA95A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Voronov Georgy</a:t>
            </a:r>
            <a:endParaRPr sz="1900">
              <a:solidFill>
                <a:srgbClr val="FA95A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t/>
            </a:r>
            <a:endParaRPr sz="1900">
              <a:solidFill>
                <a:srgbClr val="FA95A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60" name="Google Shape;60;p1"/>
          <p:cNvCxnSpPr/>
          <p:nvPr/>
        </p:nvCxnSpPr>
        <p:spPr>
          <a:xfrm flipH="1" rot="10800000">
            <a:off x="12365525" y="6272913"/>
            <a:ext cx="1867500" cy="12000"/>
          </a:xfrm>
          <a:prstGeom prst="straightConnector1">
            <a:avLst/>
          </a:prstGeom>
          <a:noFill/>
          <a:ln cap="flat" cmpd="sng" w="9525">
            <a:solidFill>
              <a:srgbClr val="FA95A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"/>
          <p:cNvCxnSpPr/>
          <p:nvPr/>
        </p:nvCxnSpPr>
        <p:spPr>
          <a:xfrm flipH="1" rot="10800000">
            <a:off x="12365525" y="7734313"/>
            <a:ext cx="1867500" cy="12000"/>
          </a:xfrm>
          <a:prstGeom prst="straightConnector1">
            <a:avLst/>
          </a:prstGeom>
          <a:noFill/>
          <a:ln cap="flat" cmpd="sng" w="9525">
            <a:solidFill>
              <a:srgbClr val="FA95A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95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664726" y="522208"/>
            <a:ext cx="7814548" cy="118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700"/>
              <a:buFont typeface="Anton"/>
              <a:buNone/>
            </a:pPr>
            <a:r>
              <a:rPr b="0" i="0" lang="en-US" sz="37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Проблема</a:t>
            </a:r>
            <a:r>
              <a:rPr lang="en-US" sz="370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 :</a:t>
            </a:r>
            <a:r>
              <a:rPr b="0" i="0" lang="en-US" sz="37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 Дождь застал врасплох</a:t>
            </a:r>
            <a:endParaRPr b="0" i="0" sz="37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664726" y="1994059"/>
            <a:ext cx="3812262" cy="3366016"/>
          </a:xfrm>
          <a:prstGeom prst="roundRect">
            <a:avLst>
              <a:gd fmla="val 846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54631" y="2183963"/>
            <a:ext cx="569714" cy="569714"/>
          </a:xfrm>
          <a:prstGeom prst="roundRect">
            <a:avLst>
              <a:gd fmla="val 16048553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317" y="2340650"/>
            <a:ext cx="256342" cy="25634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1538425" y="2254025"/>
            <a:ext cx="29385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Anton"/>
              <a:buNone/>
            </a:pPr>
            <a:r>
              <a:rPr b="0" i="0" lang="en-US" sz="20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Забытые или сломанные зонтики</a:t>
            </a:r>
            <a:endParaRPr b="0" i="0" sz="200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854631" y="3392208"/>
            <a:ext cx="3432600" cy="1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Fira Sans"/>
              <a:buNone/>
            </a:pPr>
            <a:r>
              <a:rPr lang="en-US" sz="15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83% горожан ежемесячно попадают под дождь без зонта. Каждый третий зонт ломается при первом же порыве ветра.</a:t>
            </a:r>
            <a:endParaRPr i="0" sz="1550" u="none" cap="none" strike="noStrike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666893" y="1994059"/>
            <a:ext cx="3812381" cy="3366016"/>
          </a:xfrm>
          <a:prstGeom prst="roundRect">
            <a:avLst>
              <a:gd fmla="val 846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856798" y="2183963"/>
            <a:ext cx="569714" cy="569714"/>
          </a:xfrm>
          <a:prstGeom prst="roundRect">
            <a:avLst>
              <a:gd fmla="val 16048553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3484" y="2340650"/>
            <a:ext cx="256342" cy="25634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/>
          <p:nvPr/>
        </p:nvSpPr>
        <p:spPr>
          <a:xfrm>
            <a:off x="5508050" y="2254025"/>
            <a:ext cx="26049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Anton"/>
              <a:buNone/>
            </a:pPr>
            <a:r>
              <a:rPr lang="en-US" sz="200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Экономия и экология</a:t>
            </a:r>
            <a:endParaRPr b="0" i="0" sz="2000" u="none" cap="none" strike="noStrike"/>
          </a:p>
        </p:txBody>
      </p:sp>
      <p:sp>
        <p:nvSpPr>
          <p:cNvPr id="78" name="Google Shape;78;p2"/>
          <p:cNvSpPr/>
          <p:nvPr/>
        </p:nvSpPr>
        <p:spPr>
          <a:xfrm>
            <a:off x="4856798" y="3392208"/>
            <a:ext cx="3432600" cy="12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Fira Sans"/>
              <a:buNone/>
            </a:pPr>
            <a:r>
              <a:rPr lang="en-US" sz="15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Среднегодовые </a:t>
            </a:r>
            <a:r>
              <a:rPr lang="en-US" sz="15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затраты</a:t>
            </a:r>
            <a:r>
              <a:rPr lang="en-US" sz="15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на зонты — 2-4 тыс. ₽. 68% зонтов используются &lt;5 раз, создавая тонны отходов.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64726" y="5549979"/>
            <a:ext cx="7814548" cy="2157770"/>
          </a:xfrm>
          <a:prstGeom prst="roundRect">
            <a:avLst>
              <a:gd fmla="val 1320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854631" y="5739884"/>
            <a:ext cx="569714" cy="569714"/>
          </a:xfrm>
          <a:prstGeom prst="roundRect">
            <a:avLst>
              <a:gd fmla="val 16048553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317" y="5896570"/>
            <a:ext cx="256342" cy="25634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"/>
          <p:cNvSpPr/>
          <p:nvPr/>
        </p:nvSpPr>
        <p:spPr>
          <a:xfrm>
            <a:off x="1538431" y="5876378"/>
            <a:ext cx="3534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Anton"/>
              <a:buNone/>
            </a:pPr>
            <a:r>
              <a:rPr lang="en-US" sz="200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Экстренная ситуация</a:t>
            </a:r>
            <a:endParaRPr b="0" i="0" sz="2000" u="none" cap="none" strike="noStrike"/>
          </a:p>
        </p:txBody>
      </p:sp>
      <p:sp>
        <p:nvSpPr>
          <p:cNvPr id="83" name="Google Shape;83;p2"/>
          <p:cNvSpPr/>
          <p:nvPr/>
        </p:nvSpPr>
        <p:spPr>
          <a:xfrm>
            <a:off x="1011325" y="6456650"/>
            <a:ext cx="72780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Fira Sans"/>
              <a:buNone/>
            </a:pPr>
            <a:r>
              <a:rPr lang="en-US" sz="15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Ливень застал у метро — магазин далеко, такси дорожает, встреча через 15 минут.</a:t>
            </a:r>
            <a:endParaRPr b="0" i="0" sz="1550" u="none" cap="none" strike="noStrike"/>
          </a:p>
        </p:txBody>
      </p:sp>
      <p:cxnSp>
        <p:nvCxnSpPr>
          <p:cNvPr id="84" name="Google Shape;84;p2"/>
          <p:cNvCxnSpPr/>
          <p:nvPr/>
        </p:nvCxnSpPr>
        <p:spPr>
          <a:xfrm flipH="1" rot="10800000">
            <a:off x="664725" y="1232438"/>
            <a:ext cx="7608900" cy="18600"/>
          </a:xfrm>
          <a:prstGeom prst="straightConnector1">
            <a:avLst/>
          </a:prstGeom>
          <a:noFill/>
          <a:ln cap="flat" cmpd="sng" w="38100">
            <a:solidFill>
              <a:srgbClr val="FA95A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1bf4e1077_0_79"/>
          <p:cNvSpPr/>
          <p:nvPr/>
        </p:nvSpPr>
        <p:spPr>
          <a:xfrm>
            <a:off x="664726" y="522208"/>
            <a:ext cx="78144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700"/>
              <a:buFont typeface="Anton"/>
              <a:buNone/>
            </a:pPr>
            <a:r>
              <a:rPr lang="en-US" sz="370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Архитектура Системы</a:t>
            </a:r>
            <a:endParaRPr b="0" i="0" sz="3700" u="none" cap="none" strike="noStrike"/>
          </a:p>
        </p:txBody>
      </p:sp>
      <p:cxnSp>
        <p:nvCxnSpPr>
          <p:cNvPr id="91" name="Google Shape;91;g391bf4e1077_0_79"/>
          <p:cNvCxnSpPr/>
          <p:nvPr/>
        </p:nvCxnSpPr>
        <p:spPr>
          <a:xfrm flipH="1" rot="10800000">
            <a:off x="664725" y="1232438"/>
            <a:ext cx="7608900" cy="18600"/>
          </a:xfrm>
          <a:prstGeom prst="straightConnector1">
            <a:avLst/>
          </a:prstGeom>
          <a:noFill/>
          <a:ln cap="flat" cmpd="sng" w="38100">
            <a:solidFill>
              <a:srgbClr val="FA95A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" name="Google Shape;92;g391bf4e1077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2025" y="7791458"/>
            <a:ext cx="2238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91bf4e1077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575" y="1623583"/>
            <a:ext cx="8634182" cy="5777351"/>
          </a:xfrm>
          <a:prstGeom prst="rect">
            <a:avLst/>
          </a:prstGeom>
          <a:noFill/>
          <a:ln cap="flat" cmpd="sng" w="28575">
            <a:solidFill>
              <a:srgbClr val="FA95A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1bf4e1077_0_166"/>
          <p:cNvSpPr/>
          <p:nvPr/>
        </p:nvSpPr>
        <p:spPr>
          <a:xfrm>
            <a:off x="664726" y="522208"/>
            <a:ext cx="78144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700"/>
              <a:buFont typeface="Anton"/>
              <a:buNone/>
            </a:pPr>
            <a:r>
              <a:rPr lang="en-US" sz="370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Диаграмма Размещения </a:t>
            </a:r>
            <a:endParaRPr b="0" i="0" sz="3700" u="none" cap="none" strike="noStrike"/>
          </a:p>
        </p:txBody>
      </p:sp>
      <p:cxnSp>
        <p:nvCxnSpPr>
          <p:cNvPr id="100" name="Google Shape;100;g391bf4e1077_0_166"/>
          <p:cNvCxnSpPr/>
          <p:nvPr/>
        </p:nvCxnSpPr>
        <p:spPr>
          <a:xfrm flipH="1" rot="10800000">
            <a:off x="664725" y="1232438"/>
            <a:ext cx="7608900" cy="18600"/>
          </a:xfrm>
          <a:prstGeom prst="straightConnector1">
            <a:avLst/>
          </a:prstGeom>
          <a:noFill/>
          <a:ln cap="flat" cmpd="sng" w="38100">
            <a:solidFill>
              <a:srgbClr val="FA95A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1" name="Google Shape;101;g391bf4e1077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2025" y="7791458"/>
            <a:ext cx="2238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91bf4e1077_0_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625" y="1709300"/>
            <a:ext cx="13385150" cy="5271900"/>
          </a:xfrm>
          <a:prstGeom prst="rect">
            <a:avLst/>
          </a:prstGeom>
          <a:noFill/>
          <a:ln cap="flat" cmpd="sng" w="28575">
            <a:solidFill>
              <a:srgbClr val="FA95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/>
          <p:nvPr/>
        </p:nvSpPr>
        <p:spPr>
          <a:xfrm>
            <a:off x="6181368" y="611739"/>
            <a:ext cx="4964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900"/>
              <a:buFont typeface="Anton"/>
              <a:buNone/>
            </a:pPr>
            <a:r>
              <a:rPr lang="en-US" sz="390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Технологический стек</a:t>
            </a:r>
            <a:endParaRPr b="0" i="0" sz="3900" u="none" cap="none" strike="noStrike"/>
          </a:p>
        </p:txBody>
      </p:sp>
      <p:sp>
        <p:nvSpPr>
          <p:cNvPr id="110" name="Google Shape;110;p3"/>
          <p:cNvSpPr txBox="1"/>
          <p:nvPr/>
        </p:nvSpPr>
        <p:spPr>
          <a:xfrm>
            <a:off x="6181375" y="1652000"/>
            <a:ext cx="6619200" cy="4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50"/>
              <a:buFont typeface="Fira Sans"/>
              <a:buAutoNum type="arabicPeriod"/>
            </a:pPr>
            <a:r>
              <a:rPr lang="en-US" sz="22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Backend: Go 1.21+</a:t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50"/>
              <a:buFont typeface="Fira Sans"/>
              <a:buAutoNum type="arabicPeriod"/>
            </a:pPr>
            <a:r>
              <a:rPr lang="en-US" sz="22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База данных: PostgreSQL 16+ с расширениями (cube, earthdistance, pgcrypto)</a:t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50"/>
              <a:buFont typeface="Fira Sans"/>
              <a:buAutoNum type="arabicPeriod"/>
            </a:pPr>
            <a:r>
              <a:rPr lang="en-US" sz="22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Коммуникация: gRPC, REST API, Kafka</a:t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50"/>
              <a:buFont typeface="Fira Sans"/>
              <a:buAutoNum type="arabicPeriod"/>
            </a:pPr>
            <a:r>
              <a:rPr lang="en-US" sz="22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Аутентификация: JWT токены</a:t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50"/>
              <a:buFont typeface="Fira Sans"/>
              <a:buAutoNum type="arabicPeriod"/>
            </a:pPr>
            <a:r>
              <a:rPr lang="en-US" sz="22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Хеширование: bcrypt</a:t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50"/>
              <a:buFont typeface="Fira Sans"/>
              <a:buAutoNum type="arabicPeriod"/>
            </a:pPr>
            <a:r>
              <a:rPr lang="en-US" sz="22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Протоколы: HTTP/1.1, gRPC</a:t>
            </a:r>
            <a:endParaRPr sz="22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3475" y="7752775"/>
            <a:ext cx="2066925" cy="40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3"/>
          <p:cNvCxnSpPr/>
          <p:nvPr/>
        </p:nvCxnSpPr>
        <p:spPr>
          <a:xfrm>
            <a:off x="6181375" y="1251038"/>
            <a:ext cx="4833300" cy="1500"/>
          </a:xfrm>
          <a:prstGeom prst="straightConnector1">
            <a:avLst/>
          </a:prstGeom>
          <a:noFill/>
          <a:ln cap="flat" cmpd="sng" w="38100">
            <a:solidFill>
              <a:srgbClr val="FA95A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793790" y="3537942"/>
            <a:ext cx="1043261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Как работает веб-приложение BERIZONT</a:t>
            </a:r>
            <a:endParaRPr b="0" i="0" sz="4450" u="none" cap="none" strike="noStrike"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4586883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1020604" y="572095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Регистрация и вход</a:t>
            </a:r>
            <a:endParaRPr b="0" i="0" sz="2200" u="none" cap="none" strike="noStrike"/>
          </a:p>
        </p:txBody>
      </p:sp>
      <p:sp>
        <p:nvSpPr>
          <p:cNvPr id="122" name="Google Shape;122;p4"/>
          <p:cNvSpPr/>
          <p:nvPr/>
        </p:nvSpPr>
        <p:spPr>
          <a:xfrm>
            <a:off x="1020604" y="6211372"/>
            <a:ext cx="389393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Быстрая регистрация и вход в приложение через номер телефона.</a:t>
            </a:r>
            <a:endParaRPr b="0" i="0" sz="1750" u="none" cap="none" strike="noStrike"/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1357" y="4586883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5368171" y="5720953"/>
            <a:ext cx="376356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Поиск ближайшей станции</a:t>
            </a:r>
            <a:endParaRPr b="0" i="0" sz="220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5368171" y="6211372"/>
            <a:ext cx="389393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Интерактивная карта покажет вам все ближайшие станции аренды зонтиков в реальном времени.</a:t>
            </a:r>
            <a:endParaRPr b="0" i="0" sz="1750" u="none" cap="none" strike="noStrike"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8924" y="4586883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9715738" y="572095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Выбор и аренда</a:t>
            </a:r>
            <a:endParaRPr b="0" i="0" sz="2200" u="none" cap="none" strike="noStrike"/>
          </a:p>
        </p:txBody>
      </p:sp>
      <p:sp>
        <p:nvSpPr>
          <p:cNvPr id="128" name="Google Shape;128;p4"/>
          <p:cNvSpPr/>
          <p:nvPr/>
        </p:nvSpPr>
        <p:spPr>
          <a:xfrm>
            <a:off x="9715738" y="6211372"/>
            <a:ext cx="389393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Выберите нужный зонтик и оформите аренду всего в пару кликов, без лишних задержек.</a:t>
            </a:r>
            <a:endParaRPr b="0" i="0" sz="1750" u="none" cap="none" strike="noStrike"/>
          </a:p>
        </p:txBody>
      </p:sp>
      <p:pic>
        <p:nvPicPr>
          <p:cNvPr id="129" name="Google Shape;129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81375" y="7734300"/>
            <a:ext cx="17490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6205657" y="674608"/>
            <a:ext cx="7705487" cy="1284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000"/>
              <a:buFont typeface="Anton"/>
              <a:buNone/>
            </a:pPr>
            <a:r>
              <a:rPr b="0" i="0" lang="en-US" sz="40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Основной функционал приложения</a:t>
            </a:r>
            <a:endParaRPr b="0" i="0" sz="400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6217082" y="1959295"/>
            <a:ext cx="3750000" cy="2865900"/>
          </a:xfrm>
          <a:prstGeom prst="roundRect">
            <a:avLst>
              <a:gd fmla="val 3829" name="adj"/>
            </a:avLst>
          </a:prstGeom>
          <a:solidFill>
            <a:srgbClr val="1F1F1F"/>
          </a:solidFill>
          <a:ln cap="flat" cmpd="sng" w="2285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194222" y="1959295"/>
            <a:ext cx="91500" cy="2865900"/>
          </a:xfrm>
          <a:prstGeom prst="roundRect">
            <a:avLst>
              <a:gd fmla="val 33716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6514025" y="2187654"/>
            <a:ext cx="32247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00"/>
              <a:buFont typeface="Anton"/>
              <a:buNone/>
            </a:pPr>
            <a:r>
              <a:rPr b="0" i="0" lang="en-US" sz="20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Карта доступности зонтиков</a:t>
            </a:r>
            <a:endParaRPr b="0" i="0" sz="2000" u="none" cap="none" strike="noStrike"/>
          </a:p>
        </p:txBody>
      </p:sp>
      <p:sp>
        <p:nvSpPr>
          <p:cNvPr id="139" name="Google Shape;139;p5"/>
          <p:cNvSpPr/>
          <p:nvPr/>
        </p:nvSpPr>
        <p:spPr>
          <a:xfrm>
            <a:off x="6514025" y="2633200"/>
            <a:ext cx="3224700" cy="18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Просматривайте местоположение и количество доступных зонтиков на интерактивной карте в реальном времени.</a:t>
            </a:r>
            <a:endParaRPr b="0" i="0" sz="1600" u="none" cap="none" strike="noStrike"/>
          </a:p>
        </p:txBody>
      </p:sp>
      <p:sp>
        <p:nvSpPr>
          <p:cNvPr id="140" name="Google Shape;140;p5"/>
          <p:cNvSpPr/>
          <p:nvPr/>
        </p:nvSpPr>
        <p:spPr>
          <a:xfrm>
            <a:off x="10172576" y="1959295"/>
            <a:ext cx="3750000" cy="2865900"/>
          </a:xfrm>
          <a:prstGeom prst="roundRect">
            <a:avLst>
              <a:gd fmla="val 3829" name="adj"/>
            </a:avLst>
          </a:prstGeom>
          <a:solidFill>
            <a:srgbClr val="1F1F1F"/>
          </a:solidFill>
          <a:ln cap="flat" cmpd="sng" w="2285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0149716" y="1959295"/>
            <a:ext cx="91500" cy="2865900"/>
          </a:xfrm>
          <a:prstGeom prst="roundRect">
            <a:avLst>
              <a:gd fmla="val 33716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10469518" y="2187657"/>
            <a:ext cx="28014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00"/>
              <a:buFont typeface="Anton"/>
              <a:buNone/>
            </a:pPr>
            <a:r>
              <a:rPr lang="en-US" sz="200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Подписка “Бери на раз”</a:t>
            </a:r>
            <a:endParaRPr b="0" i="0" sz="2000" u="none" cap="none" strike="noStrike"/>
          </a:p>
        </p:txBody>
      </p:sp>
      <p:sp>
        <p:nvSpPr>
          <p:cNvPr id="143" name="Google Shape;143;p5"/>
          <p:cNvSpPr/>
          <p:nvPr/>
        </p:nvSpPr>
        <p:spPr>
          <a:xfrm>
            <a:off x="10469525" y="2632002"/>
            <a:ext cx="32247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lang="en-US" sz="16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Просто отметьте точки маршрута в приложении — система автоматически зарезервирует для вас зонт на каждой выбранной станции. </a:t>
            </a:r>
            <a:endParaRPr b="0" i="0" sz="160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6217082" y="5162607"/>
            <a:ext cx="3750000" cy="2216100"/>
          </a:xfrm>
          <a:prstGeom prst="roundRect">
            <a:avLst>
              <a:gd fmla="val 4952" name="adj"/>
            </a:avLst>
          </a:prstGeom>
          <a:solidFill>
            <a:srgbClr val="1F1F1F"/>
          </a:solidFill>
          <a:ln cap="flat" cmpd="sng" w="2285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194222" y="5162607"/>
            <a:ext cx="91500" cy="2216100"/>
          </a:xfrm>
          <a:prstGeom prst="roundRect">
            <a:avLst>
              <a:gd fmla="val 33716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514023" y="5390968"/>
            <a:ext cx="3000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00"/>
              <a:buFont typeface="Anton"/>
              <a:buNone/>
            </a:pPr>
            <a:r>
              <a:rPr b="0" i="0" lang="en-US" sz="20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Удобная онлайн-оплата</a:t>
            </a:r>
            <a:endParaRPr b="0" i="0" sz="2000" u="none" cap="none" strike="noStrike"/>
          </a:p>
        </p:txBody>
      </p:sp>
      <p:sp>
        <p:nvSpPr>
          <p:cNvPr id="147" name="Google Shape;147;p5"/>
          <p:cNvSpPr/>
          <p:nvPr/>
        </p:nvSpPr>
        <p:spPr>
          <a:xfrm>
            <a:off x="6514023" y="5835310"/>
            <a:ext cx="3224700" cy="13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Оплачивайте аренду быстро и безопасно прямо в приложении, используя различные безналичные способы.</a:t>
            </a:r>
            <a:endParaRPr b="0" i="0" sz="1600" u="none" cap="none" strike="noStrike"/>
          </a:p>
        </p:txBody>
      </p:sp>
      <p:pic>
        <p:nvPicPr>
          <p:cNvPr id="148" name="Google Shape;14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1375" y="7716100"/>
            <a:ext cx="17490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10184007" y="5162607"/>
            <a:ext cx="3750000" cy="2216100"/>
          </a:xfrm>
          <a:prstGeom prst="roundRect">
            <a:avLst>
              <a:gd fmla="val 4952" name="adj"/>
            </a:avLst>
          </a:prstGeom>
          <a:solidFill>
            <a:srgbClr val="1F1F1F"/>
          </a:solidFill>
          <a:ln cap="flat" cmpd="sng" w="2285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0161147" y="5162607"/>
            <a:ext cx="91500" cy="2216100"/>
          </a:xfrm>
          <a:prstGeom prst="roundRect">
            <a:avLst>
              <a:gd fmla="val 33716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0480948" y="5390968"/>
            <a:ext cx="3000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00"/>
              <a:buFont typeface="Anton"/>
              <a:buNone/>
            </a:pPr>
            <a:r>
              <a:rPr b="0" i="0" lang="en-US" sz="20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Удобная онлайн-оплата</a:t>
            </a:r>
            <a:endParaRPr b="0" i="0" sz="2000" u="none" cap="none" strike="noStrike"/>
          </a:p>
        </p:txBody>
      </p:sp>
      <p:sp>
        <p:nvSpPr>
          <p:cNvPr id="152" name="Google Shape;152;p5"/>
          <p:cNvSpPr/>
          <p:nvPr/>
        </p:nvSpPr>
        <p:spPr>
          <a:xfrm>
            <a:off x="10480948" y="5835310"/>
            <a:ext cx="3224700" cy="13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Оплачивайте аренду быстро и безопасно прямо в приложении, используя различные безналичные способы.</a:t>
            </a:r>
            <a:endParaRPr b="0" i="0" sz="1600" u="none" cap="none" strike="noStrike"/>
          </a:p>
        </p:txBody>
      </p:sp>
      <p:pic>
        <p:nvPicPr>
          <p:cNvPr id="153" name="Google Shape;15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5486401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g391bf4e1077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91bf4e1077_0_39"/>
          <p:cNvSpPr/>
          <p:nvPr/>
        </p:nvSpPr>
        <p:spPr>
          <a:xfrm>
            <a:off x="793803" y="3469850"/>
            <a:ext cx="6113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lang="en-US" sz="445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Подписка “Бери на раз” </a:t>
            </a:r>
            <a:endParaRPr b="0" i="0" sz="2150" u="none" cap="none" strike="noStrike"/>
          </a:p>
        </p:txBody>
      </p:sp>
      <p:sp>
        <p:nvSpPr>
          <p:cNvPr id="161" name="Google Shape;161;g391bf4e1077_0_39"/>
          <p:cNvSpPr/>
          <p:nvPr/>
        </p:nvSpPr>
        <p:spPr>
          <a:xfrm>
            <a:off x="793790" y="4518779"/>
            <a:ext cx="4196400" cy="680400"/>
          </a:xfrm>
          <a:prstGeom prst="roundRect">
            <a:avLst>
              <a:gd fmla="val 480029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1bf4e1077_0_39"/>
          <p:cNvSpPr/>
          <p:nvPr/>
        </p:nvSpPr>
        <p:spPr>
          <a:xfrm>
            <a:off x="1020604" y="542603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lang="en-US" sz="220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Наметьте маршрут</a:t>
            </a:r>
            <a:endParaRPr b="0" i="0" sz="2200" u="none" cap="none" strike="noStrike"/>
          </a:p>
        </p:txBody>
      </p:sp>
      <p:sp>
        <p:nvSpPr>
          <p:cNvPr id="163" name="Google Shape;163;g391bf4e1077_0_39"/>
          <p:cNvSpPr/>
          <p:nvPr/>
        </p:nvSpPr>
        <p:spPr>
          <a:xfrm>
            <a:off x="1020604" y="5916454"/>
            <a:ext cx="3742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отметьте станции от А до Б в приложении</a:t>
            </a:r>
            <a:endParaRPr b="0" i="0" sz="1750" u="none" cap="none" strike="noStrike"/>
          </a:p>
        </p:txBody>
      </p:sp>
      <p:sp>
        <p:nvSpPr>
          <p:cNvPr id="164" name="Google Shape;164;g391bf4e1077_0_39"/>
          <p:cNvSpPr/>
          <p:nvPr/>
        </p:nvSpPr>
        <p:spPr>
          <a:xfrm>
            <a:off x="5216962" y="4518779"/>
            <a:ext cx="4196400" cy="680400"/>
          </a:xfrm>
          <a:prstGeom prst="roundRect">
            <a:avLst>
              <a:gd fmla="val 480029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91bf4e1077_0_39"/>
          <p:cNvSpPr/>
          <p:nvPr/>
        </p:nvSpPr>
        <p:spPr>
          <a:xfrm>
            <a:off x="5443776" y="5426035"/>
            <a:ext cx="3513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lang="en-US" sz="220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Автобронирование</a:t>
            </a:r>
            <a:endParaRPr b="0" i="0" sz="2200" u="none" cap="none" strike="noStrike"/>
          </a:p>
        </p:txBody>
      </p:sp>
      <p:sp>
        <p:nvSpPr>
          <p:cNvPr id="166" name="Google Shape;166;g391bf4e1077_0_39"/>
          <p:cNvSpPr/>
          <p:nvPr/>
        </p:nvSpPr>
        <p:spPr>
          <a:xfrm>
            <a:off x="5443776" y="5916454"/>
            <a:ext cx="37428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система резервирует зонт на каждой точке вашего пути</a:t>
            </a:r>
            <a:endParaRPr b="0" i="0" sz="1750" u="none" cap="none" strike="noStrike"/>
          </a:p>
        </p:txBody>
      </p:sp>
      <p:sp>
        <p:nvSpPr>
          <p:cNvPr id="167" name="Google Shape;167;g391bf4e1077_0_39"/>
          <p:cNvSpPr/>
          <p:nvPr/>
        </p:nvSpPr>
        <p:spPr>
          <a:xfrm>
            <a:off x="9640133" y="4518779"/>
            <a:ext cx="4196400" cy="680400"/>
          </a:xfrm>
          <a:prstGeom prst="roundRect">
            <a:avLst>
              <a:gd fmla="val 480029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1bf4e1077_0_39"/>
          <p:cNvSpPr/>
          <p:nvPr/>
        </p:nvSpPr>
        <p:spPr>
          <a:xfrm>
            <a:off x="9866948" y="5426035"/>
            <a:ext cx="3710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lang="en-US" sz="220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Забирайте зонт</a:t>
            </a:r>
            <a:endParaRPr b="0" i="0" sz="2200" u="none" cap="none" strike="noStrike"/>
          </a:p>
        </p:txBody>
      </p:sp>
      <p:sp>
        <p:nvSpPr>
          <p:cNvPr id="169" name="Google Shape;169;g391bf4e1077_0_39"/>
          <p:cNvSpPr/>
          <p:nvPr/>
        </p:nvSpPr>
        <p:spPr>
          <a:xfrm>
            <a:off x="9866948" y="5916454"/>
            <a:ext cx="3742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в любой станции маршрута – верните на одной станции, возьмите на следующей</a:t>
            </a:r>
            <a:endParaRPr b="0" i="0" sz="1750" u="none" cap="none" strike="noStrike"/>
          </a:p>
        </p:txBody>
      </p:sp>
      <p:pic>
        <p:nvPicPr>
          <p:cNvPr id="170" name="Google Shape;170;g391bf4e1077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1375" y="7734300"/>
            <a:ext cx="17490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91bf4e1077_0_39"/>
          <p:cNvSpPr txBox="1"/>
          <p:nvPr/>
        </p:nvSpPr>
        <p:spPr>
          <a:xfrm>
            <a:off x="11258550" y="4527975"/>
            <a:ext cx="79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☂️</a:t>
            </a:r>
            <a:endParaRPr sz="3100"/>
          </a:p>
        </p:txBody>
      </p:sp>
      <p:sp>
        <p:nvSpPr>
          <p:cNvPr id="172" name="Google Shape;172;g391bf4e1077_0_39"/>
          <p:cNvSpPr txBox="1"/>
          <p:nvPr/>
        </p:nvSpPr>
        <p:spPr>
          <a:xfrm>
            <a:off x="6866950" y="4528075"/>
            <a:ext cx="30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🛡️</a:t>
            </a:r>
            <a:endParaRPr sz="3100"/>
          </a:p>
        </p:txBody>
      </p:sp>
      <p:sp>
        <p:nvSpPr>
          <p:cNvPr id="173" name="Google Shape;173;g391bf4e1077_0_39"/>
          <p:cNvSpPr txBox="1"/>
          <p:nvPr/>
        </p:nvSpPr>
        <p:spPr>
          <a:xfrm>
            <a:off x="2493150" y="4528063"/>
            <a:ext cx="79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🧭</a:t>
            </a:r>
            <a:endParaRPr sz="3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9" name="Google Shape;179;g391bf4e1077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91bf4e1077_0_136"/>
          <p:cNvSpPr/>
          <p:nvPr/>
        </p:nvSpPr>
        <p:spPr>
          <a:xfrm>
            <a:off x="6280190" y="108549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Заключение</a:t>
            </a:r>
            <a:endParaRPr b="0" i="0" sz="4450" u="none" cap="none" strike="noStrike"/>
          </a:p>
        </p:txBody>
      </p:sp>
      <p:sp>
        <p:nvSpPr>
          <p:cNvPr id="181" name="Google Shape;181;g391bf4e1077_0_136"/>
          <p:cNvSpPr/>
          <p:nvPr/>
        </p:nvSpPr>
        <p:spPr>
          <a:xfrm>
            <a:off x="6280190" y="2134433"/>
            <a:ext cx="3664800" cy="3112800"/>
          </a:xfrm>
          <a:prstGeom prst="roundRect">
            <a:avLst>
              <a:gd fmla="val 17488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91bf4e1077_0_136"/>
          <p:cNvSpPr/>
          <p:nvPr/>
        </p:nvSpPr>
        <p:spPr>
          <a:xfrm>
            <a:off x="6507000" y="2450549"/>
            <a:ext cx="3211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Инновационный сервис</a:t>
            </a:r>
            <a:endParaRPr b="0" i="0" sz="2200" u="none" cap="none" strike="noStrike"/>
          </a:p>
        </p:txBody>
      </p:sp>
      <p:sp>
        <p:nvSpPr>
          <p:cNvPr id="183" name="Google Shape;183;g391bf4e1077_0_136"/>
          <p:cNvSpPr/>
          <p:nvPr/>
        </p:nvSpPr>
        <p:spPr>
          <a:xfrm>
            <a:off x="10171748" y="2134433"/>
            <a:ext cx="3664800" cy="3112800"/>
          </a:xfrm>
          <a:prstGeom prst="roundRect">
            <a:avLst>
              <a:gd fmla="val 17488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91bf4e1077_0_136"/>
          <p:cNvSpPr/>
          <p:nvPr/>
        </p:nvSpPr>
        <p:spPr>
          <a:xfrm>
            <a:off x="10501300" y="2450549"/>
            <a:ext cx="3211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Готовность </a:t>
            </a:r>
            <a:endParaRPr b="0" i="0" sz="2200" u="none" cap="none" strike="noStrike"/>
          </a:p>
        </p:txBody>
      </p:sp>
      <p:sp>
        <p:nvSpPr>
          <p:cNvPr id="185" name="Google Shape;185;g391bf4e1077_0_136"/>
          <p:cNvSpPr/>
          <p:nvPr/>
        </p:nvSpPr>
        <p:spPr>
          <a:xfrm>
            <a:off x="6280190" y="5474137"/>
            <a:ext cx="7556400" cy="1669800"/>
          </a:xfrm>
          <a:prstGeom prst="roundRect">
            <a:avLst>
              <a:gd fmla="val 32601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1bf4e1077_0_136"/>
          <p:cNvSpPr/>
          <p:nvPr/>
        </p:nvSpPr>
        <p:spPr>
          <a:xfrm>
            <a:off x="6589354" y="565705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Меняйте привычки</a:t>
            </a:r>
            <a:endParaRPr b="0" i="0" sz="2200" u="none" cap="none" strike="noStrike"/>
          </a:p>
        </p:txBody>
      </p:sp>
      <p:pic>
        <p:nvPicPr>
          <p:cNvPr id="187" name="Google Shape;187;g391bf4e1077_0_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1375" y="7734300"/>
            <a:ext cx="17490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91bf4e1077_0_136"/>
          <p:cNvSpPr txBox="1"/>
          <p:nvPr/>
        </p:nvSpPr>
        <p:spPr>
          <a:xfrm>
            <a:off x="6507000" y="2946950"/>
            <a:ext cx="30000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BERIZONT — это современное и удобное решение для городских жителей, которое делает жизнь проще и комфортнее.</a:t>
            </a:r>
            <a:endParaRPr sz="15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9" name="Google Shape;189;g391bf4e1077_0_136"/>
          <p:cNvSpPr txBox="1"/>
          <p:nvPr/>
        </p:nvSpPr>
        <p:spPr>
          <a:xfrm>
            <a:off x="10398550" y="2955188"/>
            <a:ext cx="30000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Будьте готовы к дождю без лишних затрат и хлопот, всегда имея доступ к надежному зонтику.</a:t>
            </a:r>
            <a:endParaRPr sz="15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62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0" name="Google Shape;190;g391bf4e1077_0_136"/>
          <p:cNvSpPr txBox="1"/>
          <p:nvPr/>
        </p:nvSpPr>
        <p:spPr>
          <a:xfrm>
            <a:off x="6507000" y="6085763"/>
            <a:ext cx="68916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Присоединяйтесь к BERIZONT и вместе с нами меняйте привычки, делая городскую жизнь более осознанной и экологичной!</a:t>
            </a:r>
            <a:endParaRPr sz="15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2025-12-14T17:00:04Z</dcterms:created>
</cp:coreProperties>
</file>