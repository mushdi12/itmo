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f28aace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f28aace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1f28aac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1f28aac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f28aace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1f28aace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f28aace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f28aace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1f28aace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1f28aac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f28aace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f28aace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f28aace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f28aace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1f28aace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1f28aace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f28aacef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1f28aace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f28aacef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1f28aacef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f28aacef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1f28aacef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f28aacef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1f28aacef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JiOOmjYJ1dFZczIMuHezCjnlx5dK6bbM/view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/>
              <a:t>Задание II. "Нейропроект" </a:t>
            </a:r>
            <a:endParaRPr sz="4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Брагин Роман P3316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1219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Задание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Необходимо создать анимационный ролик с помощью различных нейросетей, хронометраж ролика от двух до пяти минут. Сценарий и стилистика ролика может быть любой: рекламный ролик, анимация, сказка, блокбастер и т.д.</a:t>
            </a:r>
            <a:endParaRPr sz="1900">
              <a:solidFill>
                <a:schemeClr val="dk1"/>
              </a:solidFill>
            </a:endParaRPr>
          </a:p>
          <a:p>
            <a:pPr indent="44450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Всё необходимо сделать с помощью нейросетей:</a:t>
            </a:r>
            <a:endParaRPr sz="1900">
              <a:solidFill>
                <a:schemeClr val="dk1"/>
              </a:solidFill>
            </a:endParaRPr>
          </a:p>
          <a:p>
            <a:pPr indent="0" lvl="0" marL="6731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1. Написать сценарий ролика</a:t>
            </a:r>
            <a:endParaRPr sz="1900">
              <a:solidFill>
                <a:schemeClr val="dk1"/>
              </a:solidFill>
            </a:endParaRPr>
          </a:p>
          <a:p>
            <a:pPr indent="0" lvl="0" marL="6731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2. Озвучить ролик</a:t>
            </a:r>
            <a:endParaRPr sz="1900">
              <a:solidFill>
                <a:schemeClr val="dk1"/>
              </a:solidFill>
            </a:endParaRPr>
          </a:p>
          <a:p>
            <a:pPr indent="0" lvl="0" marL="6731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3. Создать секвенцию изображений или видео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/>
              <a:t>Тема: Формула-1</a:t>
            </a:r>
            <a:endParaRPr b="1" sz="2500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Причины выбора: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ru" sz="1900">
                <a:solidFill>
                  <a:schemeClr val="dk1"/>
                </a:solidFill>
              </a:rPr>
              <a:t>Динамика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ru" sz="1900">
                <a:solidFill>
                  <a:schemeClr val="dk1"/>
                </a:solidFill>
              </a:rPr>
              <a:t>Технологии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ru" sz="1900">
                <a:solidFill>
                  <a:schemeClr val="dk1"/>
                </a:solidFill>
              </a:rPr>
              <a:t>Зрелищность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576" y="2857500"/>
            <a:ext cx="5617725" cy="228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520"/>
              <a:t>Используемые ИИ</a:t>
            </a:r>
            <a:endParaRPr b="1" sz="25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Sora — генерация видео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CapCut — монтаж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ChatGPT — сценарист 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08865">
            <a:off x="6053701" y="498604"/>
            <a:ext cx="1421196" cy="142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18293">
            <a:off x="4462571" y="2462321"/>
            <a:ext cx="1485800" cy="14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30982">
            <a:off x="6730906" y="2776383"/>
            <a:ext cx="1952726" cy="1952726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Как было сделано</a:t>
            </a:r>
            <a:endParaRPr b="1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Видео создавалось в Sora в виде набора коротких клипов 12 штук по 20 сек, ограничение подписки.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dk1"/>
                </a:solidFill>
              </a:rPr>
              <a:t>Пример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ru">
                <a:solidFill>
                  <a:schemeClr val="dk1"/>
                </a:solidFill>
              </a:rPr>
              <a:t>Create a 10-second cinematic video.  Scene: Empty Formula 1 track at sunset after the race, long shadows, calm and epic ending.  Voiceover (Russian): "Формула один — это скорость, доведённая до искусства."  Style: ultra cinematic, realistic Formula 1 race film, professional motorsport cinematography, dramatic lighting, depth of field, motion blur, smooth camera movement, 16:9, 4K, no dialogue, no subtitles 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00"/>
              <a:t>Фотоизображение три в одном</a:t>
            </a:r>
            <a:endParaRPr sz="7200"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Брагин Роман P3316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Задание:</a:t>
            </a:r>
            <a:endParaRPr b="1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 Необходимо продемонстрировать и обосновать фотоизображение в котором одновременно можно увидеть три типа фотоизображений: </a:t>
            </a:r>
            <a:endParaRPr sz="1900">
              <a:solidFill>
                <a:srgbClr val="000000"/>
              </a:solidFill>
            </a:endParaRPr>
          </a:p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I - Указывающие – фотографии, которые используются в научных публикациях; </a:t>
            </a:r>
            <a:endParaRPr sz="1900">
              <a:solidFill>
                <a:srgbClr val="000000"/>
              </a:solidFill>
            </a:endParaRPr>
          </a:p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II - Предписывающие – политика и рекламная деятельность; I</a:t>
            </a:r>
            <a:endParaRPr sz="1900">
              <a:solidFill>
                <a:srgbClr val="000000"/>
              </a:solidFill>
            </a:endParaRPr>
          </a:p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rgbClr val="000000"/>
                </a:solidFill>
              </a:rPr>
              <a:t>II - Художественные фотографии.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900" y="919925"/>
            <a:ext cx="6938201" cy="39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03200" y="160425"/>
            <a:ext cx="29376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</a:rPr>
              <a:t>Фотоизображение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227225"/>
            <a:ext cx="36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ru" sz="2400"/>
              <a:t>I. Указывающее фотоизображение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b="1" sz="2400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368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 исследованиях по </a:t>
            </a:r>
            <a:r>
              <a:rPr b="1" lang="ru" sz="1200">
                <a:solidFill>
                  <a:schemeClr val="dk1"/>
                </a:solidFill>
              </a:rPr>
              <a:t>урбанистике и транспорту</a:t>
            </a:r>
            <a:r>
              <a:rPr lang="ru" sz="1200">
                <a:solidFill>
                  <a:schemeClr val="dk1"/>
                </a:solidFill>
              </a:rPr>
              <a:t> (оформление общественного транспорта);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 социологических работах о </a:t>
            </a:r>
            <a:r>
              <a:rPr b="1" lang="ru" sz="1200">
                <a:solidFill>
                  <a:schemeClr val="dk1"/>
                </a:solidFill>
              </a:rPr>
              <a:t>молодёжной политике</a:t>
            </a:r>
            <a:r>
              <a:rPr lang="ru" sz="1200">
                <a:solidFill>
                  <a:schemeClr val="dk1"/>
                </a:solidFill>
              </a:rPr>
              <a:t> и визуальной среде города;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 маркетинговых и медиа-исследованиях как пример </a:t>
            </a:r>
            <a:r>
              <a:rPr b="1" lang="ru" sz="1200">
                <a:solidFill>
                  <a:schemeClr val="dk1"/>
                </a:solidFill>
              </a:rPr>
              <a:t>интеграции рекламы в городскую инфраструктуру</a:t>
            </a:r>
            <a:r>
              <a:rPr lang="ru" sz="1200">
                <a:solidFill>
                  <a:schemeClr val="dk1"/>
                </a:solidFill>
              </a:rPr>
              <a:t>;как иллюстрацию к теме </a:t>
            </a:r>
            <a:r>
              <a:rPr b="1" lang="ru" sz="1200">
                <a:solidFill>
                  <a:schemeClr val="dk1"/>
                </a:solidFill>
              </a:rPr>
              <a:t>современного общественного пространства</a:t>
            </a:r>
            <a:r>
              <a:rPr lang="ru" sz="1200">
                <a:solidFill>
                  <a:schemeClr val="dk1"/>
                </a:solidFill>
              </a:rPr>
              <a:t> (люди, транспорт, индустриальная среда).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525" y="1228250"/>
            <a:ext cx="4776949" cy="26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252350"/>
            <a:ext cx="36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2400"/>
              <a:t>II. Предписывающее фотоизображение</a:t>
            </a:r>
            <a:endParaRPr sz="24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368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На борту трамвая размещены </a:t>
            </a:r>
            <a:r>
              <a:rPr b="1" lang="ru" sz="1200">
                <a:solidFill>
                  <a:schemeClr val="dk1"/>
                </a:solidFill>
              </a:rPr>
              <a:t>рекламные и идеологические сообщения</a:t>
            </a:r>
            <a:r>
              <a:rPr lang="ru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«Молодость. Драйв. Успех»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«Дальневосточный экспресс»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присутствует </a:t>
            </a:r>
            <a:r>
              <a:rPr b="1" lang="ru" sz="1200">
                <a:solidFill>
                  <a:schemeClr val="dk1"/>
                </a:solidFill>
              </a:rPr>
              <a:t>визуальное воздействие</a:t>
            </a:r>
            <a:r>
              <a:rPr lang="ru" sz="1200">
                <a:solidFill>
                  <a:schemeClr val="dk1"/>
                </a:solidFill>
              </a:rPr>
              <a:t>, формирующее установки и ценности (успех, энергия, молодёжь);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используется яркий дизайн, лица людей, слоганы — типичные инструменты </a:t>
            </a:r>
            <a:r>
              <a:rPr b="1" lang="ru" sz="1200">
                <a:solidFill>
                  <a:schemeClr val="dk1"/>
                </a:solidFill>
              </a:rPr>
              <a:t>рекламной и социальной коммуникации</a:t>
            </a:r>
            <a:r>
              <a:rPr lang="ru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525" y="1228250"/>
            <a:ext cx="4776949" cy="26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269125"/>
            <a:ext cx="36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ru" sz="2400"/>
              <a:t>III. Художественное фотоизображение</a:t>
            </a:r>
            <a:endParaRPr sz="2400"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368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Изображение также обладает </a:t>
            </a:r>
            <a:r>
              <a:rPr b="1" lang="ru" sz="1200">
                <a:solidFill>
                  <a:schemeClr val="dk1"/>
                </a:solidFill>
              </a:rPr>
              <a:t>художественной ценностью</a:t>
            </a:r>
            <a:r>
              <a:rPr lang="ru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продуманная </a:t>
            </a:r>
            <a:r>
              <a:rPr b="1" lang="ru" sz="1200">
                <a:solidFill>
                  <a:schemeClr val="dk1"/>
                </a:solidFill>
              </a:rPr>
              <a:t>цветовая композиция</a:t>
            </a:r>
            <a:r>
              <a:rPr lang="ru" sz="1200">
                <a:solidFill>
                  <a:schemeClr val="dk1"/>
                </a:solidFill>
              </a:rPr>
              <a:t> (фиолетовые, синие, тёплые оттенки);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динамика сцены: движение людей, ритм линий, индустриальное пространство депо;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многослойность кадра:</a:t>
            </a:r>
            <a:br>
              <a:rPr lang="ru" sz="1200">
                <a:solidFill>
                  <a:schemeClr val="dk1"/>
                </a:solidFill>
              </a:rPr>
            </a:br>
            <a:r>
              <a:rPr lang="ru" sz="1200">
                <a:solidFill>
                  <a:schemeClr val="dk1"/>
                </a:solidFill>
              </a:rPr>
              <a:t> — люди внутри и снаружи</a:t>
            </a:r>
            <a:br>
              <a:rPr lang="ru" sz="1200">
                <a:solidFill>
                  <a:schemeClr val="dk1"/>
                </a:solidFill>
              </a:rPr>
            </a:br>
            <a:r>
              <a:rPr lang="ru" sz="1200">
                <a:solidFill>
                  <a:schemeClr val="dk1"/>
                </a:solidFill>
              </a:rPr>
              <a:t> — отражения в окнах</a:t>
            </a:r>
            <a:br>
              <a:rPr lang="ru" sz="1200">
                <a:solidFill>
                  <a:schemeClr val="dk1"/>
                </a:solidFill>
              </a:rPr>
            </a:br>
            <a:r>
              <a:rPr lang="ru" sz="1200">
                <a:solidFill>
                  <a:schemeClr val="dk1"/>
                </a:solidFill>
              </a:rPr>
              <a:t> — сочетание техники и человеческого присутствия;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фотография может восприниматься как </a:t>
            </a:r>
            <a:r>
              <a:rPr b="1" lang="ru" sz="1200">
                <a:solidFill>
                  <a:schemeClr val="dk1"/>
                </a:solidFill>
              </a:rPr>
              <a:t>эстетический образ городской жизни</a:t>
            </a:r>
            <a:r>
              <a:rPr lang="ru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525" y="1228250"/>
            <a:ext cx="4776949" cy="26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420"/>
              <a:t>Заключение</a:t>
            </a:r>
            <a:endParaRPr b="1" sz="2420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Данное изображение объединяет </a:t>
            </a:r>
            <a:r>
              <a:rPr b="1" lang="ru" sz="1700">
                <a:solidFill>
                  <a:schemeClr val="dk1"/>
                </a:solidFill>
              </a:rPr>
              <a:t>указывающую</a:t>
            </a:r>
            <a:r>
              <a:rPr lang="ru" sz="1700">
                <a:solidFill>
                  <a:schemeClr val="dk1"/>
                </a:solidFill>
              </a:rPr>
              <a:t>, </a:t>
            </a:r>
            <a:r>
              <a:rPr b="1" lang="ru" sz="1700">
                <a:solidFill>
                  <a:schemeClr val="dk1"/>
                </a:solidFill>
              </a:rPr>
              <a:t>предписывающую</a:t>
            </a:r>
            <a:r>
              <a:rPr lang="ru" sz="1700">
                <a:solidFill>
                  <a:schemeClr val="dk1"/>
                </a:solidFill>
              </a:rPr>
              <a:t> и </a:t>
            </a:r>
            <a:r>
              <a:rPr b="1" lang="ru" sz="1700">
                <a:solidFill>
                  <a:schemeClr val="dk1"/>
                </a:solidFill>
              </a:rPr>
              <a:t>художественную</a:t>
            </a:r>
            <a:r>
              <a:rPr lang="ru" sz="1700">
                <a:solidFill>
                  <a:schemeClr val="dk1"/>
                </a:solidFill>
              </a:rPr>
              <a:t> функции, демонстрируя, как в современной визуальной культуре фотография становится одновременно средством анализа, воздействия и эстетического восприятия.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