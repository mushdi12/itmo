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905500" cx="10515600"/>
  <p:notesSz cx="10515600" cy="5905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MM0JFF5RsA2/eDtVKY6gFidy9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52950" y="442900"/>
            <a:ext cx="7010750" cy="2214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51550" y="2805100"/>
            <a:ext cx="8412475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051550" y="2805100"/>
            <a:ext cx="8412475" cy="26574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752950" y="442900"/>
            <a:ext cx="7010750" cy="2214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1051550" y="2805100"/>
            <a:ext cx="8412475" cy="26574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1752950" y="442900"/>
            <a:ext cx="7010750" cy="2214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1051550" y="2805100"/>
            <a:ext cx="8412475" cy="26574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/>
          <p:nvPr>
            <p:ph idx="2" type="sldImg"/>
          </p:nvPr>
        </p:nvSpPr>
        <p:spPr>
          <a:xfrm>
            <a:off x="1752950" y="442900"/>
            <a:ext cx="7010750" cy="2214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3ad429698_0_35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83ad429698_0_35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3ad429698_0_43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83ad429698_0_43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3ad429698_0_87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83ad429698_0_87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3ad429698_0_158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3ad429698_0_158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3d532e5fe_0_92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3d532e5fe_0_92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3d532e5fe_0_41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3d532e5fe_0_41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3ad429698_0_173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3ad429698_0_173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3ad429698_0_71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3ad429698_0_71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3d532e5fe_0_69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83d532e5fe_0_69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3d532e5fe_0_36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3d532e5fe_0_36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3d532e5fe_0_31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3d532e5fe_0_31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3d532e5fe_0_54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3d532e5fe_0_54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3d532e5fe_0_77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3d532e5fe_0_77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3d532e5fe_0_112:notes"/>
          <p:cNvSpPr txBox="1"/>
          <p:nvPr>
            <p:ph idx="1" type="body"/>
          </p:nvPr>
        </p:nvSpPr>
        <p:spPr>
          <a:xfrm>
            <a:off x="1051550" y="2805100"/>
            <a:ext cx="84126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83d532e5fe_0_112:notes"/>
          <p:cNvSpPr/>
          <p:nvPr>
            <p:ph idx="2" type="sldImg"/>
          </p:nvPr>
        </p:nvSpPr>
        <p:spPr>
          <a:xfrm>
            <a:off x="1752950" y="442900"/>
            <a:ext cx="7010700" cy="22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1370210" y="822261"/>
            <a:ext cx="752310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525780" y="1358265"/>
            <a:ext cx="946404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1370210" y="822261"/>
            <a:ext cx="752310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1370210" y="822261"/>
            <a:ext cx="752310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" type="body"/>
          </p:nvPr>
        </p:nvSpPr>
        <p:spPr>
          <a:xfrm>
            <a:off x="525780" y="1358265"/>
            <a:ext cx="4574286" cy="389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2" type="body"/>
          </p:nvPr>
        </p:nvSpPr>
        <p:spPr>
          <a:xfrm>
            <a:off x="5415534" y="1358265"/>
            <a:ext cx="4574286" cy="389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ctrTitle"/>
          </p:nvPr>
        </p:nvSpPr>
        <p:spPr>
          <a:xfrm>
            <a:off x="788670" y="1830705"/>
            <a:ext cx="8938260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subTitle"/>
          </p:nvPr>
        </p:nvSpPr>
        <p:spPr>
          <a:xfrm>
            <a:off x="1577340" y="3307080"/>
            <a:ext cx="736092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1370210" y="822261"/>
            <a:ext cx="752310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500" u="none" cap="none" strike="noStrike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25780" y="1358265"/>
            <a:ext cx="946404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1" type="ftr"/>
          </p:nvPr>
        </p:nvSpPr>
        <p:spPr>
          <a:xfrm>
            <a:off x="3575304" y="5492115"/>
            <a:ext cx="336499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1"/>
          <p:cNvSpPr txBox="1"/>
          <p:nvPr>
            <p:ph idx="10" type="dt"/>
          </p:nvPr>
        </p:nvSpPr>
        <p:spPr>
          <a:xfrm>
            <a:off x="525780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7571232" y="5492115"/>
            <a:ext cx="24185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2.jpg"/><Relationship Id="rId5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570500" y="2032950"/>
            <a:ext cx="4200954" cy="297251"/>
          </a:xfrm>
          <a:custGeom>
            <a:rect b="b" l="l" r="r" t="t"/>
            <a:pathLst>
              <a:path extrusionOk="0" h="180975" w="3457575">
                <a:moveTo>
                  <a:pt x="3435267" y="180974"/>
                </a:moveTo>
                <a:lnTo>
                  <a:pt x="22307" y="180974"/>
                </a:lnTo>
                <a:lnTo>
                  <a:pt x="19026" y="180322"/>
                </a:lnTo>
                <a:lnTo>
                  <a:pt x="0" y="158667"/>
                </a:lnTo>
                <a:lnTo>
                  <a:pt x="0" y="155257"/>
                </a:lnTo>
                <a:lnTo>
                  <a:pt x="0" y="22307"/>
                </a:lnTo>
                <a:lnTo>
                  <a:pt x="22307" y="0"/>
                </a:lnTo>
                <a:lnTo>
                  <a:pt x="3435267" y="0"/>
                </a:lnTo>
                <a:lnTo>
                  <a:pt x="3457574" y="22307"/>
                </a:lnTo>
                <a:lnTo>
                  <a:pt x="3457574" y="158667"/>
                </a:lnTo>
                <a:lnTo>
                  <a:pt x="3438547" y="180322"/>
                </a:lnTo>
                <a:lnTo>
                  <a:pt x="3435267" y="180974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" name="Google Shape;44;p1"/>
          <p:cNvSpPr txBox="1"/>
          <p:nvPr/>
        </p:nvSpPr>
        <p:spPr>
          <a:xfrm>
            <a:off x="634100" y="2032950"/>
            <a:ext cx="41373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Курт Кобейн как автономный симулякр </a:t>
            </a:r>
            <a:endParaRPr sz="155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634100" y="2432625"/>
            <a:ext cx="55734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5080" rtl="0" algn="l">
              <a:lnSpc>
                <a:spcPct val="11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rPr>
              <a:t>“it's better to burn out than to fade away”</a:t>
            </a:r>
            <a:endParaRPr i="1" sz="2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1647" y="0"/>
            <a:ext cx="3519678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/>
          <p:nvPr/>
        </p:nvSpPr>
        <p:spPr>
          <a:xfrm>
            <a:off x="63500" y="5539375"/>
            <a:ext cx="1918954" cy="250650"/>
          </a:xfrm>
          <a:custGeom>
            <a:rect b="b" l="l" r="r" t="t"/>
            <a:pathLst>
              <a:path extrusionOk="0" h="180975" w="3457575">
                <a:moveTo>
                  <a:pt x="3435267" y="180974"/>
                </a:moveTo>
                <a:lnTo>
                  <a:pt x="22307" y="180974"/>
                </a:lnTo>
                <a:lnTo>
                  <a:pt x="19026" y="180322"/>
                </a:lnTo>
                <a:lnTo>
                  <a:pt x="0" y="158667"/>
                </a:lnTo>
                <a:lnTo>
                  <a:pt x="0" y="155257"/>
                </a:lnTo>
                <a:lnTo>
                  <a:pt x="0" y="22307"/>
                </a:lnTo>
                <a:lnTo>
                  <a:pt x="22307" y="0"/>
                </a:lnTo>
                <a:lnTo>
                  <a:pt x="3435267" y="0"/>
                </a:lnTo>
                <a:lnTo>
                  <a:pt x="3457574" y="22307"/>
                </a:lnTo>
                <a:lnTo>
                  <a:pt x="3457574" y="158667"/>
                </a:lnTo>
                <a:lnTo>
                  <a:pt x="3438547" y="180322"/>
                </a:lnTo>
                <a:lnTo>
                  <a:pt x="3435267" y="180974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8"/>
          </a:p>
        </p:txBody>
      </p:sp>
      <p:sp>
        <p:nvSpPr>
          <p:cNvPr id="48" name="Google Shape;48;p1"/>
          <p:cNvSpPr txBox="1"/>
          <p:nvPr/>
        </p:nvSpPr>
        <p:spPr>
          <a:xfrm>
            <a:off x="117161" y="5539375"/>
            <a:ext cx="1862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7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Брагин Роман P3316</a:t>
            </a:r>
            <a:endParaRPr sz="1307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056325" y="1490400"/>
            <a:ext cx="77298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По </a:t>
            </a:r>
            <a:r>
              <a:rPr i="1" lang="en-US" sz="1800">
                <a:solidFill>
                  <a:schemeClr val="dk1"/>
                </a:solidFill>
              </a:rPr>
              <a:t>Жану Бодрийяру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b="1" lang="en-US" sz="1800">
                <a:solidFill>
                  <a:schemeClr val="dk1"/>
                </a:solidFill>
              </a:rPr>
              <a:t>симулякр — это знак или образ, который утратил связь с реальностью и существует сам по себе, как «копия без оригинала».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Люди узнают символ, даже если не знают контекст.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Симулякр — это образ, который не отражает реальность, а живёт сам по себе как самостоятельный знак или миф.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4" name="Google Shape;5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21900" y="3511800"/>
            <a:ext cx="2393700" cy="2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695802">
            <a:off x="267125" y="3748525"/>
            <a:ext cx="1823924" cy="18239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 txBox="1"/>
          <p:nvPr>
            <p:ph type="title"/>
          </p:nvPr>
        </p:nvSpPr>
        <p:spPr>
          <a:xfrm>
            <a:off x="1056335" y="356861"/>
            <a:ext cx="752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Что такое симулякр?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/>
          <p:nvPr>
            <p:ph type="title"/>
          </p:nvPr>
        </p:nvSpPr>
        <p:spPr>
          <a:xfrm>
            <a:off x="1056335" y="356861"/>
            <a:ext cx="7523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Кто такой Курт Кобейн?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3755" y="3109061"/>
            <a:ext cx="2251845" cy="279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-986620">
            <a:off x="-161393" y="3790977"/>
            <a:ext cx="2349637" cy="277291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 txBox="1"/>
          <p:nvPr/>
        </p:nvSpPr>
        <p:spPr>
          <a:xfrm>
            <a:off x="1100950" y="1291425"/>
            <a:ext cx="6858000" cy="2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Курт Кобейн (1967–1994) — музыкант, фронтмен группы </a:t>
            </a:r>
            <a:r>
              <a:rPr i="1" lang="en-US" sz="1800">
                <a:solidFill>
                  <a:schemeClr val="dk1"/>
                </a:solidFill>
              </a:rPr>
              <a:t>Nirvana</a:t>
            </a:r>
            <a:r>
              <a:rPr lang="en-US" sz="1800">
                <a:solidFill>
                  <a:schemeClr val="dk1"/>
                </a:solidFill>
              </a:rPr>
              <a:t>, основатель гранж-направления.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-US" sz="1800">
                <a:solidFill>
                  <a:schemeClr val="dk1"/>
                </a:solidFill>
              </a:rPr>
              <a:t>Nirvana</a:t>
            </a:r>
            <a:r>
              <a:rPr lang="en-US" sz="1800">
                <a:solidFill>
                  <a:schemeClr val="dk1"/>
                </a:solidFill>
              </a:rPr>
              <a:t> стала символом «альтернативной революции» в музыке начала 90-х.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C0C"/>
              </a:buClr>
              <a:buSzPts val="1800"/>
              <a:buChar char="●"/>
            </a:pPr>
            <a:r>
              <a:rPr lang="en-US" sz="1800">
                <a:solidFill>
                  <a:srgbClr val="0D0C0C"/>
                </a:solidFill>
              </a:rPr>
              <a:t>Однако после смерти Кобейна его образ быстро превратился в самостоятельный культурный миф.</a:t>
            </a:r>
            <a:endParaRPr sz="1800">
              <a:solidFill>
                <a:schemeClr val="dk1"/>
              </a:solidFill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12700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ad429698_0_35"/>
          <p:cNvSpPr txBox="1"/>
          <p:nvPr>
            <p:ph type="title"/>
          </p:nvPr>
        </p:nvSpPr>
        <p:spPr>
          <a:xfrm>
            <a:off x="1056323" y="356850"/>
            <a:ext cx="9217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Музыка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g383ad429698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632942">
            <a:off x="-50821" y="4011949"/>
            <a:ext cx="1880400" cy="18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83ad429698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8925" y="896500"/>
            <a:ext cx="3531725" cy="353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Моё видение векторного логотипа Nirvana, это непросто, и вот почему : r/ Nirvana" id="72" name="Google Shape;72;g383ad429698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28655">
            <a:off x="7792825" y="3061100"/>
            <a:ext cx="755525" cy="2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83ad429698_0_35"/>
          <p:cNvSpPr txBox="1"/>
          <p:nvPr/>
        </p:nvSpPr>
        <p:spPr>
          <a:xfrm>
            <a:off x="1056325" y="1325725"/>
            <a:ext cx="5290800" cy="25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В 90-е песни </a:t>
            </a:r>
            <a:r>
              <a:rPr i="1" lang="en-US" sz="1800">
                <a:solidFill>
                  <a:schemeClr val="dk1"/>
                </a:solidFill>
              </a:rPr>
              <a:t>Smells Like Teen Spirit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i="1" lang="en-US" sz="1800">
                <a:solidFill>
                  <a:schemeClr val="dk1"/>
                </a:solidFill>
              </a:rPr>
              <a:t>Come As You Are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i="1" lang="en-US" sz="1800">
                <a:solidFill>
                  <a:schemeClr val="dk1"/>
                </a:solidFill>
              </a:rPr>
              <a:t>Lithium</a:t>
            </a:r>
            <a:r>
              <a:rPr lang="en-US" sz="1800">
                <a:solidFill>
                  <a:schemeClr val="dk1"/>
                </a:solidFill>
              </a:rPr>
              <a:t> сделали его «голосом поколения Х».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Но со временем имя «Кобейн» стало лейблом для всего гранжа и альтернативного рока.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Даже если слушают другие группы, символом эпохи называют именно его.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3ad429698_0_43"/>
          <p:cNvSpPr txBox="1"/>
          <p:nvPr/>
        </p:nvSpPr>
        <p:spPr>
          <a:xfrm>
            <a:off x="974900" y="246525"/>
            <a:ext cx="507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Визуальный образ и стиль</a:t>
            </a:r>
            <a:endParaRPr b="1" sz="2400">
              <a:solidFill>
                <a:srgbClr val="0D0C0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g383ad429698_0_43"/>
          <p:cNvSpPr txBox="1"/>
          <p:nvPr/>
        </p:nvSpPr>
        <p:spPr>
          <a:xfrm>
            <a:off x="974900" y="1183350"/>
            <a:ext cx="51882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Длинные светлые волосы, рваные джинсы, свитера..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Этот стиль копируют подростки, модные бренды, дизайнеры.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«Гранж-мода» живёт отдельно от Nirvana: </a:t>
            </a:r>
            <a:r>
              <a:rPr lang="en-US" sz="1800">
                <a:solidFill>
                  <a:schemeClr val="dk1"/>
                </a:solidFill>
              </a:rPr>
              <a:t>ее</a:t>
            </a:r>
            <a:r>
              <a:rPr lang="en-US" sz="1800">
                <a:solidFill>
                  <a:schemeClr val="dk1"/>
                </a:solidFill>
              </a:rPr>
              <a:t> носят люди, не зная об истоках.</a:t>
            </a:r>
            <a:br>
              <a:rPr lang="en-US" sz="1800">
                <a:solidFill>
                  <a:schemeClr val="dk1"/>
                </a:solidFill>
              </a:rPr>
            </a:br>
            <a:endParaRPr sz="1800"/>
          </a:p>
        </p:txBody>
      </p:sp>
      <p:pic>
        <p:nvPicPr>
          <p:cNvPr id="80" name="Google Shape;80;g383ad429698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6151" y="0"/>
            <a:ext cx="3899451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83ad429698_0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16330">
            <a:off x="1343488" y="4110696"/>
            <a:ext cx="3059021" cy="360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ad429698_0_87"/>
          <p:cNvSpPr txBox="1"/>
          <p:nvPr/>
        </p:nvSpPr>
        <p:spPr>
          <a:xfrm>
            <a:off x="1543575" y="1881425"/>
            <a:ext cx="71526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rPr>
              <a:t>Почему Курт Кобейн стал автономным симулякром ?</a:t>
            </a:r>
            <a:endParaRPr b="1" sz="2400">
              <a:solidFill>
                <a:srgbClr val="0D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g383ad429698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849" y="3041525"/>
            <a:ext cx="3324750" cy="286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83ad429698_0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299" y="1388747"/>
            <a:ext cx="5487901" cy="37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383ad429698_0_158"/>
          <p:cNvSpPr txBox="1"/>
          <p:nvPr>
            <p:ph type="title"/>
          </p:nvPr>
        </p:nvSpPr>
        <p:spPr>
          <a:xfrm>
            <a:off x="1056335" y="356861"/>
            <a:ext cx="75231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Смерть как катализатор мифа — фиксация образа вне времени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d532e5fe_0_92"/>
          <p:cNvSpPr txBox="1"/>
          <p:nvPr>
            <p:ph type="title"/>
          </p:nvPr>
        </p:nvSpPr>
        <p:spPr>
          <a:xfrm>
            <a:off x="1056335" y="356861"/>
            <a:ext cx="7523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Голос поколения “X”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383d532e5fe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888" y="1343812"/>
            <a:ext cx="5908024" cy="381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3d532e5fe_0_41"/>
          <p:cNvSpPr txBox="1"/>
          <p:nvPr>
            <p:ph type="title"/>
          </p:nvPr>
        </p:nvSpPr>
        <p:spPr>
          <a:xfrm>
            <a:off x="1056335" y="356861"/>
            <a:ext cx="75231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Массовое воспроизводство образа и медийная мифология</a:t>
            </a:r>
            <a:endParaRPr sz="2400"/>
          </a:p>
        </p:txBody>
      </p:sp>
      <p:pic>
        <p:nvPicPr>
          <p:cNvPr descr="Советское — значит лучшее: Курт Кобейн и Высоцкий пели в один и тот же  микрофон - Рамблер/кино" id="105" name="Google Shape;105;g383d532e5fe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425" y="1450325"/>
            <a:ext cx="6762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ad429698_0_173"/>
          <p:cNvSpPr txBox="1"/>
          <p:nvPr>
            <p:ph idx="1" type="body"/>
          </p:nvPr>
        </p:nvSpPr>
        <p:spPr>
          <a:xfrm>
            <a:off x="1072950" y="420450"/>
            <a:ext cx="8462400" cy="7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Экономическая коммодификация (памятные вещи → знаки стоимости)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383ad429698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425" y="1489850"/>
            <a:ext cx="6357651" cy="35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383ad429698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8000" y="519700"/>
            <a:ext cx="4797401" cy="524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83ad429698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075" y="1468250"/>
            <a:ext cx="3491325" cy="34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83ad429698_0_71"/>
          <p:cNvSpPr txBox="1"/>
          <p:nvPr>
            <p:ph idx="1" type="body"/>
          </p:nvPr>
        </p:nvSpPr>
        <p:spPr>
          <a:xfrm>
            <a:off x="1072950" y="420450"/>
            <a:ext cx="8462400" cy="7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Экономическая коммодификация (памятные вещи → знаки стоимости)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d532e5fe_0_69"/>
          <p:cNvSpPr txBox="1"/>
          <p:nvPr>
            <p:ph idx="1" type="body"/>
          </p:nvPr>
        </p:nvSpPr>
        <p:spPr>
          <a:xfrm>
            <a:off x="1072950" y="420450"/>
            <a:ext cx="8462400" cy="7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Экономическая коммодификация (памятные вещи → знаки стоимости)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83d532e5fe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5781549" y="2123723"/>
            <a:ext cx="4307076" cy="242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83d532e5fe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525" y="1617850"/>
            <a:ext cx="3045150" cy="34344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83d532e5fe_0_69"/>
          <p:cNvSpPr txBox="1"/>
          <p:nvPr/>
        </p:nvSpPr>
        <p:spPr>
          <a:xfrm>
            <a:off x="2393100" y="5052325"/>
            <a:ext cx="173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Jaguar и Mustang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3d532e5fe_0_36"/>
          <p:cNvSpPr txBox="1"/>
          <p:nvPr>
            <p:ph type="title"/>
          </p:nvPr>
        </p:nvSpPr>
        <p:spPr>
          <a:xfrm>
            <a:off x="1056335" y="356861"/>
            <a:ext cx="75231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Брендирование внешности и эстетики — образ как мода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83d532e5fe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325" y="1367011"/>
            <a:ext cx="6858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3d532e5fe_0_31"/>
          <p:cNvSpPr txBox="1"/>
          <p:nvPr>
            <p:ph type="title"/>
          </p:nvPr>
        </p:nvSpPr>
        <p:spPr>
          <a:xfrm>
            <a:off x="1056335" y="356861"/>
            <a:ext cx="7523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</a:t>
            </a: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окументалистика, биопики, академизация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83d532e5fe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825" y="1245575"/>
            <a:ext cx="2503175" cy="377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3d532e5fe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275" y="1245575"/>
            <a:ext cx="2503175" cy="3770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Последние дни фильм, 2004, дата выхода трейлеры актеры отзывы описание на  Кинопоиске" id="140" name="Google Shape;140;g383d532e5fe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3975" y="1245575"/>
            <a:ext cx="2503175" cy="37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3d532e5fe_0_54"/>
          <p:cNvSpPr txBox="1"/>
          <p:nvPr>
            <p:ph type="title"/>
          </p:nvPr>
        </p:nvSpPr>
        <p:spPr>
          <a:xfrm>
            <a:off x="1056335" y="356861"/>
            <a:ext cx="75231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Фанатская репродукция, мемы и конспирология 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83d532e5fe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750" y="1367878"/>
            <a:ext cx="3172188" cy="396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83d532e5fe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950" y="1367875"/>
            <a:ext cx="4346575" cy="39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3d532e5fe_0_77"/>
          <p:cNvSpPr txBox="1"/>
          <p:nvPr>
            <p:ph type="title"/>
          </p:nvPr>
        </p:nvSpPr>
        <p:spPr>
          <a:xfrm>
            <a:off x="1056335" y="356861"/>
            <a:ext cx="75231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Интернет и соцсети позволяют образу циркулировать без посредников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83d532e5fe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621" y="1366971"/>
            <a:ext cx="6926226" cy="363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Фото: Курт Кобейн / Кадр из «Курт Кобейн» (1967) #978069" id="158" name="Google Shape;158;g383d532e5fe_0_112"/>
          <p:cNvPicPr preferRelativeResize="0"/>
          <p:nvPr/>
        </p:nvPicPr>
        <p:blipFill rotWithShape="1">
          <a:blip r:embed="rId3">
            <a:alphaModFix/>
          </a:blip>
          <a:srcRect b="0" l="11383" r="19584" t="0"/>
          <a:stretch/>
        </p:blipFill>
        <p:spPr>
          <a:xfrm>
            <a:off x="5885375" y="14288"/>
            <a:ext cx="4048125" cy="58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83d532e5fe_0_112"/>
          <p:cNvSpPr txBox="1"/>
          <p:nvPr/>
        </p:nvSpPr>
        <p:spPr>
          <a:xfrm>
            <a:off x="1110350" y="2353250"/>
            <a:ext cx="55734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5080" rtl="0" algn="l">
              <a:lnSpc>
                <a:spcPct val="11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rPr>
              <a:t>“it's better to burn </a:t>
            </a:r>
            <a:endParaRPr b="1" i="1" sz="2600">
              <a:solidFill>
                <a:srgbClr val="0D0C0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5080" rtl="0" algn="l">
              <a:lnSpc>
                <a:spcPct val="11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600">
                <a:solidFill>
                  <a:srgbClr val="0D0C0C"/>
                </a:solidFill>
                <a:latin typeface="Verdana"/>
                <a:ea typeface="Verdana"/>
                <a:cs typeface="Verdana"/>
                <a:sym typeface="Verdana"/>
              </a:rPr>
              <a:t>out than to fade away”</a:t>
            </a:r>
            <a:endParaRPr i="1" sz="26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2025-09-25T20:56:27Z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2025-09-25T00:00:00Z</vt:filetime>
  </property>
  <property fmtid="{D5CDD505-2E9C-101B-9397-08002B2CF9AE}" pid="5" name="Producer">
    <vt:lpwstr>pdf-lib (https://github.com/Hopding/pdf-lib)</vt:lpwstr>
  </property>
</Properties>
</file>