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c7d1e3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c7d1e3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c7d1e3d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c7d1e3d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c7d1e3d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c7d1e3d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1c7d1e3d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1c7d1e3d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1c7d1e3d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1c7d1e3d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1c7d1e3d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1c7d1e3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00"/>
              <a:t>Фотоизображение три в одном</a:t>
            </a:r>
            <a:endParaRPr sz="7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Брагин Роман P3316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Задание: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445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 Необходимо продемонстрировать и обосновать фотоизображение в котором одновременно можно увидеть три типа фотоизображений: </a:t>
            </a:r>
            <a:endParaRPr sz="1900">
              <a:solidFill>
                <a:srgbClr val="000000"/>
              </a:solidFill>
            </a:endParaRPr>
          </a:p>
          <a:p>
            <a:pPr indent="4445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I - Указывающие – фотографии, которые используются в научных публикациях; </a:t>
            </a:r>
            <a:endParaRPr sz="1900">
              <a:solidFill>
                <a:srgbClr val="000000"/>
              </a:solidFill>
            </a:endParaRPr>
          </a:p>
          <a:p>
            <a:pPr indent="4445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II - Предписывающие – политика и рекламная деятельность; I</a:t>
            </a:r>
            <a:endParaRPr sz="1900">
              <a:solidFill>
                <a:srgbClr val="000000"/>
              </a:solidFill>
            </a:endParaRPr>
          </a:p>
          <a:p>
            <a:pPr indent="4445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rgbClr val="000000"/>
                </a:solidFill>
              </a:rPr>
              <a:t>II - Художественные фотографии.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900" y="919925"/>
            <a:ext cx="6938201" cy="39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03200" y="160425"/>
            <a:ext cx="29376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</a:rPr>
              <a:t>Ф</a:t>
            </a:r>
            <a:r>
              <a:rPr b="1" lang="ru" sz="2400">
                <a:solidFill>
                  <a:schemeClr val="dk1"/>
                </a:solidFill>
              </a:rPr>
              <a:t>отоизображение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27225"/>
            <a:ext cx="36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ru" sz="2400"/>
              <a:t>I. Указывающее фотоизображение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b="1" sz="24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68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 исследованиях по </a:t>
            </a:r>
            <a:r>
              <a:rPr b="1" lang="ru" sz="1200">
                <a:solidFill>
                  <a:schemeClr val="dk1"/>
                </a:solidFill>
              </a:rPr>
              <a:t>урбанистике и транспорту</a:t>
            </a:r>
            <a:r>
              <a:rPr lang="ru" sz="1200">
                <a:solidFill>
                  <a:schemeClr val="dk1"/>
                </a:solidFill>
              </a:rPr>
              <a:t> (оформление общественного транспорта);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 социологических работах о </a:t>
            </a:r>
            <a:r>
              <a:rPr b="1" lang="ru" sz="1200">
                <a:solidFill>
                  <a:schemeClr val="dk1"/>
                </a:solidFill>
              </a:rPr>
              <a:t>молодёжной политике</a:t>
            </a:r>
            <a:r>
              <a:rPr lang="ru" sz="1200">
                <a:solidFill>
                  <a:schemeClr val="dk1"/>
                </a:solidFill>
              </a:rPr>
              <a:t> и визуальной среде города;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 маркетинговых и медиа-исследованиях как пример </a:t>
            </a:r>
            <a:r>
              <a:rPr b="1" lang="ru" sz="1200">
                <a:solidFill>
                  <a:schemeClr val="dk1"/>
                </a:solidFill>
              </a:rPr>
              <a:t>интеграции рекламы в городскую инфраструктуру</a:t>
            </a:r>
            <a:r>
              <a:rPr lang="ru" sz="1200">
                <a:solidFill>
                  <a:schemeClr val="dk1"/>
                </a:solidFill>
              </a:rPr>
              <a:t>;как иллюстрацию к теме </a:t>
            </a:r>
            <a:r>
              <a:rPr b="1" lang="ru" sz="1200">
                <a:solidFill>
                  <a:schemeClr val="dk1"/>
                </a:solidFill>
              </a:rPr>
              <a:t>современного общественного пространства</a:t>
            </a:r>
            <a:r>
              <a:rPr lang="ru" sz="1200">
                <a:solidFill>
                  <a:schemeClr val="dk1"/>
                </a:solidFill>
              </a:rPr>
              <a:t> (люди, транспорт, индустриальная среда).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525" y="1228250"/>
            <a:ext cx="4776949" cy="26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252350"/>
            <a:ext cx="36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2400"/>
              <a:t>II. Предписывающее фотоизображение</a:t>
            </a:r>
            <a:endParaRPr sz="24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368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На борту трамвая размещены </a:t>
            </a:r>
            <a:r>
              <a:rPr b="1" lang="ru" sz="1200">
                <a:solidFill>
                  <a:schemeClr val="dk1"/>
                </a:solidFill>
              </a:rPr>
              <a:t>рекламные и идеологические сообщения</a:t>
            </a:r>
            <a:r>
              <a:rPr lang="ru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" sz="1200">
                <a:solidFill>
                  <a:schemeClr val="dk1"/>
                </a:solidFill>
              </a:rPr>
              <a:t>«Молодость. Драйв. Успех»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" sz="1200">
                <a:solidFill>
                  <a:schemeClr val="dk1"/>
                </a:solidFill>
              </a:rPr>
              <a:t>«Дальневосточный экспресс»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присутствует </a:t>
            </a:r>
            <a:r>
              <a:rPr b="1" lang="ru" sz="1200">
                <a:solidFill>
                  <a:schemeClr val="dk1"/>
                </a:solidFill>
              </a:rPr>
              <a:t>визуальное воздействие</a:t>
            </a:r>
            <a:r>
              <a:rPr lang="ru" sz="1200">
                <a:solidFill>
                  <a:schemeClr val="dk1"/>
                </a:solidFill>
              </a:rPr>
              <a:t>, формирующее установки и ценности (успех, энергия, молодёжь);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используется яркий дизайн, лица людей, слоганы — типичные инструменты </a:t>
            </a:r>
            <a:r>
              <a:rPr b="1" lang="ru" sz="1200">
                <a:solidFill>
                  <a:schemeClr val="dk1"/>
                </a:solidFill>
              </a:rPr>
              <a:t>рекламной и социальной коммуникации</a:t>
            </a:r>
            <a:r>
              <a:rPr lang="ru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525" y="1228250"/>
            <a:ext cx="4776949" cy="26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69125"/>
            <a:ext cx="36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ru" sz="2400"/>
              <a:t>III. Художественное фотоизображение</a:t>
            </a:r>
            <a:endParaRPr sz="24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368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Изображение также обладает </a:t>
            </a:r>
            <a:r>
              <a:rPr b="1" lang="ru" sz="1200">
                <a:solidFill>
                  <a:schemeClr val="dk1"/>
                </a:solidFill>
              </a:rPr>
              <a:t>художественной ценностью</a:t>
            </a:r>
            <a:r>
              <a:rPr lang="ru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продуманная </a:t>
            </a:r>
            <a:r>
              <a:rPr b="1" lang="ru" sz="1200">
                <a:solidFill>
                  <a:schemeClr val="dk1"/>
                </a:solidFill>
              </a:rPr>
              <a:t>цветовая композиция</a:t>
            </a:r>
            <a:r>
              <a:rPr lang="ru" sz="1200">
                <a:solidFill>
                  <a:schemeClr val="dk1"/>
                </a:solidFill>
              </a:rPr>
              <a:t> (фиолетовые, синие, тёплые оттенки);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динамика сцены: движение людей, ритм линий, индустриальное пространство депо;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многослойность кадра:</a:t>
            </a:r>
            <a:br>
              <a:rPr lang="ru" sz="1200">
                <a:solidFill>
                  <a:schemeClr val="dk1"/>
                </a:solidFill>
              </a:rPr>
            </a:br>
            <a:r>
              <a:rPr lang="ru" sz="1200">
                <a:solidFill>
                  <a:schemeClr val="dk1"/>
                </a:solidFill>
              </a:rPr>
              <a:t> — люди внутри и снаружи</a:t>
            </a:r>
            <a:br>
              <a:rPr lang="ru" sz="1200">
                <a:solidFill>
                  <a:schemeClr val="dk1"/>
                </a:solidFill>
              </a:rPr>
            </a:br>
            <a:r>
              <a:rPr lang="ru" sz="1200">
                <a:solidFill>
                  <a:schemeClr val="dk1"/>
                </a:solidFill>
              </a:rPr>
              <a:t> — отражения в окнах</a:t>
            </a:r>
            <a:br>
              <a:rPr lang="ru" sz="1200">
                <a:solidFill>
                  <a:schemeClr val="dk1"/>
                </a:solidFill>
              </a:rPr>
            </a:br>
            <a:r>
              <a:rPr lang="ru" sz="1200">
                <a:solidFill>
                  <a:schemeClr val="dk1"/>
                </a:solidFill>
              </a:rPr>
              <a:t> — сочетание техники и человеческого присутствия;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фотография может восприниматься как </a:t>
            </a:r>
            <a:r>
              <a:rPr b="1" lang="ru" sz="1200">
                <a:solidFill>
                  <a:schemeClr val="dk1"/>
                </a:solidFill>
              </a:rPr>
              <a:t>эстетический образ городской жизни</a:t>
            </a:r>
            <a:r>
              <a:rPr lang="ru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525" y="1228250"/>
            <a:ext cx="4776949" cy="26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420"/>
              <a:t>Заключение</a:t>
            </a:r>
            <a:endParaRPr b="1" sz="242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Данное изображение объединяет </a:t>
            </a:r>
            <a:r>
              <a:rPr b="1" lang="ru" sz="1700">
                <a:solidFill>
                  <a:schemeClr val="dk1"/>
                </a:solidFill>
              </a:rPr>
              <a:t>указывающую</a:t>
            </a:r>
            <a:r>
              <a:rPr lang="ru" sz="1700">
                <a:solidFill>
                  <a:schemeClr val="dk1"/>
                </a:solidFill>
              </a:rPr>
              <a:t>, </a:t>
            </a:r>
            <a:r>
              <a:rPr b="1" lang="ru" sz="1700">
                <a:solidFill>
                  <a:schemeClr val="dk1"/>
                </a:solidFill>
              </a:rPr>
              <a:t>предписывающую</a:t>
            </a:r>
            <a:r>
              <a:rPr lang="ru" sz="1700">
                <a:solidFill>
                  <a:schemeClr val="dk1"/>
                </a:solidFill>
              </a:rPr>
              <a:t> и </a:t>
            </a:r>
            <a:r>
              <a:rPr b="1" lang="ru" sz="1700">
                <a:solidFill>
                  <a:schemeClr val="dk1"/>
                </a:solidFill>
              </a:rPr>
              <a:t>художественную</a:t>
            </a:r>
            <a:r>
              <a:rPr lang="ru" sz="1700">
                <a:solidFill>
                  <a:schemeClr val="dk1"/>
                </a:solidFill>
              </a:rPr>
              <a:t> функции, демонстрируя, как в современной визуальной культуре фотография становится одновременно средством анализа, воздействия и эстетического восприятия.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